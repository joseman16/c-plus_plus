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6" autoAdjust="0"/>
    <p:restoredTop sz="94156" autoAdjust="0"/>
  </p:normalViewPr>
  <p:slideViewPr>
    <p:cSldViewPr snapToGrid="0">
      <p:cViewPr varScale="1">
        <p:scale>
          <a:sx n="76" d="100"/>
          <a:sy n="76" d="100"/>
        </p:scale>
        <p:origin x="126" y="4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C44318-BCE4-4C87-97ED-142E26BA2AB5}" type="datetimeFigureOut">
              <a:rPr lang="es-EC" smtClean="0"/>
              <a:t>5/7/2026</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D16A9D-F518-4014-B720-6B9573AA83BC}" type="slidenum">
              <a:rPr lang="es-EC" smtClean="0"/>
              <a:t>‹Nº›</a:t>
            </a:fld>
            <a:endParaRPr lang="es-EC"/>
          </a:p>
        </p:txBody>
      </p:sp>
    </p:spTree>
    <p:extLst>
      <p:ext uri="{BB962C8B-B14F-4D97-AF65-F5344CB8AC3E}">
        <p14:creationId xmlns:p14="http://schemas.microsoft.com/office/powerpoint/2010/main" val="3579485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dirty="0"/>
          </a:p>
        </p:txBody>
      </p:sp>
      <p:sp>
        <p:nvSpPr>
          <p:cNvPr id="4" name="Marcador de número de diapositiva 3"/>
          <p:cNvSpPr>
            <a:spLocks noGrp="1"/>
          </p:cNvSpPr>
          <p:nvPr>
            <p:ph type="sldNum" sz="quarter" idx="5"/>
          </p:nvPr>
        </p:nvSpPr>
        <p:spPr/>
        <p:txBody>
          <a:bodyPr/>
          <a:lstStyle/>
          <a:p>
            <a:fld id="{CDD16A9D-F518-4014-B720-6B9573AA83BC}" type="slidenum">
              <a:rPr lang="es-EC" smtClean="0"/>
              <a:t>2</a:t>
            </a:fld>
            <a:endParaRPr lang="es-EC"/>
          </a:p>
        </p:txBody>
      </p:sp>
    </p:spTree>
    <p:extLst>
      <p:ext uri="{BB962C8B-B14F-4D97-AF65-F5344CB8AC3E}">
        <p14:creationId xmlns:p14="http://schemas.microsoft.com/office/powerpoint/2010/main" val="4227760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C"/>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C"/>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732AA9D3-B1F8-4EC6-95AA-721D0B9CC349}" type="datetimeFigureOut">
              <a:rPr lang="es-EC" smtClean="0"/>
              <a:t>5/7/2026</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E8835C98-A935-47AD-AC0E-90A5FAB1A5BC}" type="slidenum">
              <a:rPr lang="es-EC" smtClean="0"/>
              <a:t>‹Nº›</a:t>
            </a:fld>
            <a:endParaRPr lang="es-EC"/>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8770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32AA9D3-B1F8-4EC6-95AA-721D0B9CC349}" type="datetimeFigureOut">
              <a:rPr lang="es-EC" smtClean="0"/>
              <a:t>5/7/2026</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E8835C98-A935-47AD-AC0E-90A5FAB1A5BC}" type="slidenum">
              <a:rPr lang="es-EC" smtClean="0"/>
              <a:t>‹Nº›</a:t>
            </a:fld>
            <a:endParaRPr lang="es-EC"/>
          </a:p>
        </p:txBody>
      </p:sp>
    </p:spTree>
    <p:extLst>
      <p:ext uri="{BB962C8B-B14F-4D97-AF65-F5344CB8AC3E}">
        <p14:creationId xmlns:p14="http://schemas.microsoft.com/office/powerpoint/2010/main" val="1986901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32AA9D3-B1F8-4EC6-95AA-721D0B9CC349}" type="datetimeFigureOut">
              <a:rPr lang="es-EC" smtClean="0"/>
              <a:t>5/7/2026</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E8835C98-A935-47AD-AC0E-90A5FAB1A5BC}" type="slidenum">
              <a:rPr lang="es-EC" smtClean="0"/>
              <a:t>‹Nº›</a:t>
            </a:fld>
            <a:endParaRPr lang="es-EC"/>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7985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732AA9D3-B1F8-4EC6-95AA-721D0B9CC349}" type="datetimeFigureOut">
              <a:rPr lang="es-EC" smtClean="0"/>
              <a:t>5/7/2026</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E8835C98-A935-47AD-AC0E-90A5FAB1A5BC}" type="slidenum">
              <a:rPr lang="es-EC" smtClean="0"/>
              <a:t>‹Nº›</a:t>
            </a:fld>
            <a:endParaRPr lang="es-EC"/>
          </a:p>
        </p:txBody>
      </p:sp>
    </p:spTree>
    <p:extLst>
      <p:ext uri="{BB962C8B-B14F-4D97-AF65-F5344CB8AC3E}">
        <p14:creationId xmlns:p14="http://schemas.microsoft.com/office/powerpoint/2010/main" val="1944657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32AA9D3-B1F8-4EC6-95AA-721D0B9CC349}" type="datetimeFigureOut">
              <a:rPr lang="es-EC" smtClean="0"/>
              <a:t>5/7/2026</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E8835C98-A935-47AD-AC0E-90A5FAB1A5BC}" type="slidenum">
              <a:rPr lang="es-EC" smtClean="0"/>
              <a:t>‹Nº›</a:t>
            </a:fld>
            <a:endParaRPr lang="es-EC"/>
          </a:p>
        </p:txBody>
      </p:sp>
    </p:spTree>
    <p:extLst>
      <p:ext uri="{BB962C8B-B14F-4D97-AF65-F5344CB8AC3E}">
        <p14:creationId xmlns:p14="http://schemas.microsoft.com/office/powerpoint/2010/main" val="429181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32AA9D3-B1F8-4EC6-95AA-721D0B9CC349}" type="datetimeFigureOut">
              <a:rPr lang="es-EC" smtClean="0"/>
              <a:t>5/7/2026</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E8835C98-A935-47AD-AC0E-90A5FAB1A5BC}" type="slidenum">
              <a:rPr lang="es-EC" smtClean="0"/>
              <a:t>‹Nº›</a:t>
            </a:fld>
            <a:endParaRPr lang="es-EC"/>
          </a:p>
        </p:txBody>
      </p:sp>
    </p:spTree>
    <p:extLst>
      <p:ext uri="{BB962C8B-B14F-4D97-AF65-F5344CB8AC3E}">
        <p14:creationId xmlns:p14="http://schemas.microsoft.com/office/powerpoint/2010/main" val="3438390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32AA9D3-B1F8-4EC6-95AA-721D0B9CC349}" type="datetimeFigureOut">
              <a:rPr lang="es-EC" smtClean="0"/>
              <a:t>5/7/2026</a:t>
            </a:fld>
            <a:endParaRPr lang="es-EC"/>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EC"/>
          </a:p>
        </p:txBody>
      </p:sp>
      <p:sp>
        <p:nvSpPr>
          <p:cNvPr id="9" name="Slide Number Placeholder 8"/>
          <p:cNvSpPr>
            <a:spLocks noGrp="1"/>
          </p:cNvSpPr>
          <p:nvPr>
            <p:ph type="sldNum" sz="quarter" idx="12"/>
          </p:nvPr>
        </p:nvSpPr>
        <p:spPr/>
        <p:txBody>
          <a:bodyPr/>
          <a:lstStyle/>
          <a:p>
            <a:fld id="{E8835C98-A935-47AD-AC0E-90A5FAB1A5BC}" type="slidenum">
              <a:rPr lang="es-EC" smtClean="0"/>
              <a:t>‹Nº›</a:t>
            </a:fld>
            <a:endParaRPr lang="es-EC"/>
          </a:p>
        </p:txBody>
      </p:sp>
    </p:spTree>
    <p:extLst>
      <p:ext uri="{BB962C8B-B14F-4D97-AF65-F5344CB8AC3E}">
        <p14:creationId xmlns:p14="http://schemas.microsoft.com/office/powerpoint/2010/main" val="1095947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32AA9D3-B1F8-4EC6-95AA-721D0B9CC349}" type="datetimeFigureOut">
              <a:rPr lang="es-EC" smtClean="0"/>
              <a:t>5/7/2026</a:t>
            </a:fld>
            <a:endParaRPr lang="es-EC"/>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EC"/>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8835C98-A935-47AD-AC0E-90A5FAB1A5BC}" type="slidenum">
              <a:rPr lang="es-EC" smtClean="0"/>
              <a:t>‹Nº›</a:t>
            </a:fld>
            <a:endParaRPr lang="es-EC"/>
          </a:p>
        </p:txBody>
      </p:sp>
    </p:spTree>
    <p:extLst>
      <p:ext uri="{BB962C8B-B14F-4D97-AF65-F5344CB8AC3E}">
        <p14:creationId xmlns:p14="http://schemas.microsoft.com/office/powerpoint/2010/main" val="2835786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32AA9D3-B1F8-4EC6-95AA-721D0B9CC349}" type="datetimeFigureOut">
              <a:rPr lang="es-EC" smtClean="0"/>
              <a:t>5/7/2026</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E8835C98-A935-47AD-AC0E-90A5FAB1A5BC}" type="slidenum">
              <a:rPr lang="es-EC" smtClean="0"/>
              <a:t>‹Nº›</a:t>
            </a:fld>
            <a:endParaRPr lang="es-EC"/>
          </a:p>
        </p:txBody>
      </p:sp>
    </p:spTree>
    <p:extLst>
      <p:ext uri="{BB962C8B-B14F-4D97-AF65-F5344CB8AC3E}">
        <p14:creationId xmlns:p14="http://schemas.microsoft.com/office/powerpoint/2010/main" val="728881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32AA9D3-B1F8-4EC6-95AA-721D0B9CC349}" type="datetimeFigureOut">
              <a:rPr lang="es-EC" smtClean="0"/>
              <a:t>5/7/2026</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E8835C98-A935-47AD-AC0E-90A5FAB1A5BC}" type="slidenum">
              <a:rPr lang="es-EC" smtClean="0"/>
              <a:t>‹Nº›</a:t>
            </a:fld>
            <a:endParaRPr lang="es-EC"/>
          </a:p>
        </p:txBody>
      </p:sp>
    </p:spTree>
    <p:extLst>
      <p:ext uri="{BB962C8B-B14F-4D97-AF65-F5344CB8AC3E}">
        <p14:creationId xmlns:p14="http://schemas.microsoft.com/office/powerpoint/2010/main" val="1280104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32AA9D3-B1F8-4EC6-95AA-721D0B9CC349}" type="datetimeFigureOut">
              <a:rPr lang="es-EC" smtClean="0"/>
              <a:t>5/7/2026</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E8835C98-A935-47AD-AC0E-90A5FAB1A5BC}" type="slidenum">
              <a:rPr lang="es-EC" smtClean="0"/>
              <a:t>‹Nº›</a:t>
            </a:fld>
            <a:endParaRPr lang="es-EC"/>
          </a:p>
        </p:txBody>
      </p:sp>
    </p:spTree>
    <p:extLst>
      <p:ext uri="{BB962C8B-B14F-4D97-AF65-F5344CB8AC3E}">
        <p14:creationId xmlns:p14="http://schemas.microsoft.com/office/powerpoint/2010/main" val="3851551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C"/>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C"/>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32AA9D3-B1F8-4EC6-95AA-721D0B9CC349}" type="datetimeFigureOut">
              <a:rPr lang="es-EC" smtClean="0"/>
              <a:t>5/7/2026</a:t>
            </a:fld>
            <a:endParaRPr lang="es-EC"/>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EC"/>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8835C98-A935-47AD-AC0E-90A5FAB1A5BC}" type="slidenum">
              <a:rPr lang="es-EC" smtClean="0"/>
              <a:t>‹Nº›</a:t>
            </a:fld>
            <a:endParaRPr lang="es-EC"/>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30786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05E259-798F-0553-08AB-91FCEB6BCFB8}"/>
              </a:ext>
            </a:extLst>
          </p:cNvPr>
          <p:cNvSpPr>
            <a:spLocks noGrp="1"/>
          </p:cNvSpPr>
          <p:nvPr>
            <p:ph type="ctrTitle"/>
          </p:nvPr>
        </p:nvSpPr>
        <p:spPr/>
        <p:txBody>
          <a:bodyPr/>
          <a:lstStyle/>
          <a:p>
            <a:r>
              <a:rPr lang="es-ES" dirty="0"/>
              <a:t>MODULO 1</a:t>
            </a:r>
            <a:endParaRPr lang="es-EC" dirty="0"/>
          </a:p>
        </p:txBody>
      </p:sp>
      <p:sp>
        <p:nvSpPr>
          <p:cNvPr id="3" name="Subtítulo 2">
            <a:extLst>
              <a:ext uri="{FF2B5EF4-FFF2-40B4-BE49-F238E27FC236}">
                <a16:creationId xmlns:a16="http://schemas.microsoft.com/office/drawing/2014/main" id="{81F72AED-166A-50BF-ED37-815DF2678963}"/>
              </a:ext>
            </a:extLst>
          </p:cNvPr>
          <p:cNvSpPr>
            <a:spLocks noGrp="1"/>
          </p:cNvSpPr>
          <p:nvPr>
            <p:ph type="subTitle" idx="1"/>
          </p:nvPr>
        </p:nvSpPr>
        <p:spPr/>
        <p:txBody>
          <a:bodyPr/>
          <a:lstStyle/>
          <a:p>
            <a:r>
              <a:rPr lang="es-ES" dirty="0"/>
              <a:t>Introducción</a:t>
            </a:r>
            <a:endParaRPr lang="es-EC" dirty="0"/>
          </a:p>
        </p:txBody>
      </p:sp>
    </p:spTree>
    <p:extLst>
      <p:ext uri="{BB962C8B-B14F-4D97-AF65-F5344CB8AC3E}">
        <p14:creationId xmlns:p14="http://schemas.microsoft.com/office/powerpoint/2010/main" val="1307999171"/>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229425-D05A-8F1A-100B-A958B57BB5BB}"/>
              </a:ext>
            </a:extLst>
          </p:cNvPr>
          <p:cNvSpPr>
            <a:spLocks noGrp="1"/>
          </p:cNvSpPr>
          <p:nvPr>
            <p:ph type="title"/>
          </p:nvPr>
        </p:nvSpPr>
        <p:spPr/>
        <p:txBody>
          <a:bodyPr/>
          <a:lstStyle/>
          <a:p>
            <a:r>
              <a:rPr lang="es-ES" b="1" dirty="0"/>
              <a:t>Propósito</a:t>
            </a:r>
            <a:endParaRPr lang="es-EC" b="1" dirty="0"/>
          </a:p>
        </p:txBody>
      </p:sp>
      <p:sp>
        <p:nvSpPr>
          <p:cNvPr id="3" name="Marcador de contenido 2">
            <a:extLst>
              <a:ext uri="{FF2B5EF4-FFF2-40B4-BE49-F238E27FC236}">
                <a16:creationId xmlns:a16="http://schemas.microsoft.com/office/drawing/2014/main" id="{AAD9CB06-A065-DB1C-82B2-81632AD2C01F}"/>
              </a:ext>
            </a:extLst>
          </p:cNvPr>
          <p:cNvSpPr>
            <a:spLocks noGrp="1"/>
          </p:cNvSpPr>
          <p:nvPr>
            <p:ph idx="1"/>
          </p:nvPr>
        </p:nvSpPr>
        <p:spPr>
          <a:xfrm>
            <a:off x="1097280" y="1845734"/>
            <a:ext cx="6002020" cy="4023360"/>
          </a:xfrm>
        </p:spPr>
        <p:txBody>
          <a:bodyPr>
            <a:normAutofit fontScale="92500" lnSpcReduction="20000"/>
          </a:bodyPr>
          <a:lstStyle/>
          <a:p>
            <a:pPr algn="just"/>
            <a:r>
              <a:rPr lang="es-ES" sz="2400" dirty="0"/>
              <a:t>Este curso nace de las ganas de compartir conocimiento con quienes apenas comienzan este increíble viaje llamado universidad. Sé que aprender un lenguaje de programación puede parecer tedioso al principio, por lo que mi meta personal es guiarte a través de videos cortos, claros y directos. </a:t>
            </a:r>
          </a:p>
          <a:p>
            <a:pPr algn="just"/>
            <a:r>
              <a:rPr lang="es-ES" sz="2400" dirty="0"/>
              <a:t>Quiero demostrarte que, por más avanzada que esté la Inteligencia Artificial, la mente humana siempre tendrá la ventaja si entiende la lógica detrás de cada línea. Solo necesitamos dominar la sintaxis, comprender los atributos y saber exactamente qué estamos ejecutando. Así que, con esto en mente... ¡pasemos un rato increíble programando!</a:t>
            </a:r>
            <a:endParaRPr lang="es-EC" sz="2400" dirty="0"/>
          </a:p>
        </p:txBody>
      </p:sp>
      <p:pic>
        <p:nvPicPr>
          <p:cNvPr id="6" name="Imagen 5" descr="Imagen que contiene tabla, azul, pequeño, computadora&#10;&#10;El contenido generado por IA puede ser incorrecto.">
            <a:extLst>
              <a:ext uri="{FF2B5EF4-FFF2-40B4-BE49-F238E27FC236}">
                <a16:creationId xmlns:a16="http://schemas.microsoft.com/office/drawing/2014/main" id="{AC1472F0-0892-2491-2592-0E010D024D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9029" y="2641600"/>
            <a:ext cx="3526651" cy="2035889"/>
          </a:xfrm>
          <a:prstGeom prst="rect">
            <a:avLst/>
          </a:prstGeom>
        </p:spPr>
      </p:pic>
    </p:spTree>
    <p:extLst>
      <p:ext uri="{BB962C8B-B14F-4D97-AF65-F5344CB8AC3E}">
        <p14:creationId xmlns:p14="http://schemas.microsoft.com/office/powerpoint/2010/main" val="2714137832"/>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C70743-66B7-163A-B5F8-93888D0E9878}"/>
              </a:ext>
            </a:extLst>
          </p:cNvPr>
          <p:cNvSpPr>
            <a:spLocks noGrp="1"/>
          </p:cNvSpPr>
          <p:nvPr>
            <p:ph type="title"/>
          </p:nvPr>
        </p:nvSpPr>
        <p:spPr/>
        <p:txBody>
          <a:bodyPr/>
          <a:lstStyle/>
          <a:p>
            <a:r>
              <a:rPr lang="es-ES" b="1" dirty="0"/>
              <a:t>¿Qué es C++?</a:t>
            </a:r>
            <a:endParaRPr lang="es-EC" b="1" dirty="0"/>
          </a:p>
        </p:txBody>
      </p:sp>
      <p:sp>
        <p:nvSpPr>
          <p:cNvPr id="3" name="Marcador de contenido 2">
            <a:extLst>
              <a:ext uri="{FF2B5EF4-FFF2-40B4-BE49-F238E27FC236}">
                <a16:creationId xmlns:a16="http://schemas.microsoft.com/office/drawing/2014/main" id="{4BE11FEB-B7F9-1439-6415-B8468EB9CB16}"/>
              </a:ext>
            </a:extLst>
          </p:cNvPr>
          <p:cNvSpPr>
            <a:spLocks noGrp="1"/>
          </p:cNvSpPr>
          <p:nvPr>
            <p:ph idx="1"/>
          </p:nvPr>
        </p:nvSpPr>
        <p:spPr>
          <a:xfrm>
            <a:off x="5948680" y="2074334"/>
            <a:ext cx="5544820" cy="3564466"/>
          </a:xfrm>
        </p:spPr>
        <p:txBody>
          <a:bodyPr>
            <a:normAutofit fontScale="92500"/>
          </a:bodyPr>
          <a:lstStyle/>
          <a:p>
            <a:pPr algn="just"/>
            <a:r>
              <a:rPr lang="es-ES" sz="3600" dirty="0"/>
              <a:t>Es un lenguaje de programación de propósito general, C++, que amplía las habilidades del lenguaje C al incorporar nuevas particularidades, como la programación orientada a objetos.</a:t>
            </a:r>
            <a:endParaRPr lang="es-EC" sz="3600" dirty="0"/>
          </a:p>
        </p:txBody>
      </p:sp>
      <p:pic>
        <p:nvPicPr>
          <p:cNvPr id="4" name="Imagen 3">
            <a:extLst>
              <a:ext uri="{FF2B5EF4-FFF2-40B4-BE49-F238E27FC236}">
                <a16:creationId xmlns:a16="http://schemas.microsoft.com/office/drawing/2014/main" id="{2C8ECE0B-15E2-F9B2-EFA6-5D3B46FDFDA9}"/>
              </a:ext>
            </a:extLst>
          </p:cNvPr>
          <p:cNvPicPr>
            <a:picLocks noChangeAspect="1"/>
          </p:cNvPicPr>
          <p:nvPr/>
        </p:nvPicPr>
        <p:blipFill>
          <a:blip r:embed="rId2"/>
          <a:stretch>
            <a:fillRect/>
          </a:stretch>
        </p:blipFill>
        <p:spPr>
          <a:xfrm>
            <a:off x="1516379" y="2074334"/>
            <a:ext cx="3193205" cy="3594850"/>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extLst>
      <p:ext uri="{BB962C8B-B14F-4D97-AF65-F5344CB8AC3E}">
        <p14:creationId xmlns:p14="http://schemas.microsoft.com/office/powerpoint/2010/main" val="2798642393"/>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091203-712E-3B6E-EA64-5667C1A55013}"/>
              </a:ext>
            </a:extLst>
          </p:cNvPr>
          <p:cNvSpPr>
            <a:spLocks noGrp="1"/>
          </p:cNvSpPr>
          <p:nvPr>
            <p:ph type="title"/>
          </p:nvPr>
        </p:nvSpPr>
        <p:spPr/>
        <p:txBody>
          <a:bodyPr/>
          <a:lstStyle/>
          <a:p>
            <a:pPr algn="ctr"/>
            <a:r>
              <a:rPr lang="es-ES" b="1" dirty="0"/>
              <a:t>Desarrollador del Lenguaje</a:t>
            </a:r>
            <a:endParaRPr lang="es-EC" b="1" dirty="0"/>
          </a:p>
        </p:txBody>
      </p:sp>
      <p:sp>
        <p:nvSpPr>
          <p:cNvPr id="3" name="Marcador de contenido 2">
            <a:extLst>
              <a:ext uri="{FF2B5EF4-FFF2-40B4-BE49-F238E27FC236}">
                <a16:creationId xmlns:a16="http://schemas.microsoft.com/office/drawing/2014/main" id="{627ABFE6-85F9-1D6E-47DC-C5765D17C38A}"/>
              </a:ext>
            </a:extLst>
          </p:cNvPr>
          <p:cNvSpPr>
            <a:spLocks noGrp="1"/>
          </p:cNvSpPr>
          <p:nvPr>
            <p:ph idx="1"/>
          </p:nvPr>
        </p:nvSpPr>
        <p:spPr>
          <a:xfrm>
            <a:off x="762000" y="1845734"/>
            <a:ext cx="5600700" cy="4023360"/>
          </a:xfrm>
        </p:spPr>
        <p:txBody>
          <a:bodyPr>
            <a:normAutofit/>
          </a:bodyPr>
          <a:lstStyle/>
          <a:p>
            <a:pPr algn="just"/>
            <a:r>
              <a:rPr lang="es-ES" sz="2800" dirty="0"/>
              <a:t>El creador de </a:t>
            </a:r>
            <a:r>
              <a:rPr lang="es-ES" sz="2800" dirty="0">
                <a:highlight>
                  <a:srgbClr val="00FF00"/>
                </a:highlight>
              </a:rPr>
              <a:t>C++</a:t>
            </a:r>
            <a:r>
              <a:rPr lang="es-ES" sz="2800" dirty="0"/>
              <a:t> es el científico informático danés </a:t>
            </a:r>
            <a:r>
              <a:rPr lang="es-ES" sz="2800" dirty="0">
                <a:highlight>
                  <a:srgbClr val="00FFFF"/>
                </a:highlight>
              </a:rPr>
              <a:t>Bjarne Stroustrup</a:t>
            </a:r>
            <a:r>
              <a:rPr lang="es-ES" sz="2800" dirty="0"/>
              <a:t>. Comenzó a desarrollar el lenguaje en 1979 en los Laboratorios Bell de AT&amp;T, inicialmente bajo el nombre de "C con clases", buscando combinar la eficiencia del lenguaje C con características de programación orientada a objetos.</a:t>
            </a:r>
            <a:endParaRPr lang="es-EC" sz="2800" dirty="0"/>
          </a:p>
        </p:txBody>
      </p:sp>
      <p:pic>
        <p:nvPicPr>
          <p:cNvPr id="4" name="Imagen 3">
            <a:extLst>
              <a:ext uri="{FF2B5EF4-FFF2-40B4-BE49-F238E27FC236}">
                <a16:creationId xmlns:a16="http://schemas.microsoft.com/office/drawing/2014/main" id="{10227D14-53AF-93AD-5838-8597585E8C6D}"/>
              </a:ext>
            </a:extLst>
          </p:cNvPr>
          <p:cNvPicPr>
            <a:picLocks noChangeAspect="1"/>
          </p:cNvPicPr>
          <p:nvPr/>
        </p:nvPicPr>
        <p:blipFill>
          <a:blip r:embed="rId2"/>
          <a:stretch>
            <a:fillRect/>
          </a:stretch>
        </p:blipFill>
        <p:spPr>
          <a:xfrm>
            <a:off x="6807200" y="2216150"/>
            <a:ext cx="4114800" cy="3086100"/>
          </a:xfrm>
          <a:prstGeom prst="rect">
            <a:avLst/>
          </a:prstGeom>
        </p:spPr>
      </p:pic>
    </p:spTree>
    <p:extLst>
      <p:ext uri="{BB962C8B-B14F-4D97-AF65-F5344CB8AC3E}">
        <p14:creationId xmlns:p14="http://schemas.microsoft.com/office/powerpoint/2010/main" val="2960057265"/>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0F9985-8CA2-6626-42E8-5666AFA10318}"/>
              </a:ext>
            </a:extLst>
          </p:cNvPr>
          <p:cNvSpPr>
            <a:spLocks noGrp="1"/>
          </p:cNvSpPr>
          <p:nvPr>
            <p:ph type="title"/>
          </p:nvPr>
        </p:nvSpPr>
        <p:spPr/>
        <p:txBody>
          <a:bodyPr/>
          <a:lstStyle/>
          <a:p>
            <a:pPr algn="ctr"/>
            <a:r>
              <a:rPr lang="es-ES" b="1" dirty="0"/>
              <a:t>IDE por utilizar</a:t>
            </a:r>
            <a:endParaRPr lang="es-EC" b="1" dirty="0"/>
          </a:p>
        </p:txBody>
      </p:sp>
      <p:sp>
        <p:nvSpPr>
          <p:cNvPr id="3" name="Marcador de contenido 2">
            <a:extLst>
              <a:ext uri="{FF2B5EF4-FFF2-40B4-BE49-F238E27FC236}">
                <a16:creationId xmlns:a16="http://schemas.microsoft.com/office/drawing/2014/main" id="{B104D59D-3334-B88C-C4B7-92562E8F95FD}"/>
              </a:ext>
            </a:extLst>
          </p:cNvPr>
          <p:cNvSpPr>
            <a:spLocks noGrp="1"/>
          </p:cNvSpPr>
          <p:nvPr>
            <p:ph idx="1"/>
          </p:nvPr>
        </p:nvSpPr>
        <p:spPr>
          <a:xfrm>
            <a:off x="1097280" y="2235200"/>
            <a:ext cx="4998720" cy="3633894"/>
          </a:xfrm>
        </p:spPr>
        <p:txBody>
          <a:bodyPr>
            <a:normAutofit/>
          </a:bodyPr>
          <a:lstStyle/>
          <a:p>
            <a:pPr algn="just"/>
            <a:r>
              <a:rPr lang="es-ES" sz="3600" dirty="0"/>
              <a:t>Entorno de Desarrollo Integrado (IDE) gratuito y de código abierto diseñado para programar en los lenguajes C y C++</a:t>
            </a:r>
            <a:endParaRPr lang="es-EC" sz="3600" dirty="0"/>
          </a:p>
        </p:txBody>
      </p:sp>
      <p:pic>
        <p:nvPicPr>
          <p:cNvPr id="4" name="Imagen 3">
            <a:extLst>
              <a:ext uri="{FF2B5EF4-FFF2-40B4-BE49-F238E27FC236}">
                <a16:creationId xmlns:a16="http://schemas.microsoft.com/office/drawing/2014/main" id="{F16CC10A-6FCD-62B8-BF03-9D1A4C431142}"/>
              </a:ext>
            </a:extLst>
          </p:cNvPr>
          <p:cNvPicPr>
            <a:picLocks noChangeAspect="1"/>
          </p:cNvPicPr>
          <p:nvPr/>
        </p:nvPicPr>
        <p:blipFill>
          <a:blip r:embed="rId2"/>
          <a:srcRect l="13111" r="18444"/>
          <a:stretch>
            <a:fillRect/>
          </a:stretch>
        </p:blipFill>
        <p:spPr>
          <a:xfrm>
            <a:off x="7661948" y="2235200"/>
            <a:ext cx="3209251" cy="3125894"/>
          </a:xfrm>
          <a:prstGeom prst="rect">
            <a:avLst/>
          </a:prstGeom>
        </p:spPr>
      </p:pic>
    </p:spTree>
    <p:extLst>
      <p:ext uri="{BB962C8B-B14F-4D97-AF65-F5344CB8AC3E}">
        <p14:creationId xmlns:p14="http://schemas.microsoft.com/office/powerpoint/2010/main" val="2356922258"/>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3263D3-08C9-4376-2429-325706BBC63A}"/>
              </a:ext>
            </a:extLst>
          </p:cNvPr>
          <p:cNvSpPr>
            <a:spLocks noGrp="1"/>
          </p:cNvSpPr>
          <p:nvPr>
            <p:ph type="title"/>
          </p:nvPr>
        </p:nvSpPr>
        <p:spPr/>
        <p:txBody>
          <a:bodyPr/>
          <a:lstStyle/>
          <a:p>
            <a:r>
              <a:rPr lang="es-ES" dirty="0"/>
              <a:t>1er Programa </a:t>
            </a:r>
            <a:endParaRPr lang="es-EC" dirty="0"/>
          </a:p>
        </p:txBody>
      </p:sp>
      <p:sp>
        <p:nvSpPr>
          <p:cNvPr id="3" name="Marcador de contenido 2">
            <a:extLst>
              <a:ext uri="{FF2B5EF4-FFF2-40B4-BE49-F238E27FC236}">
                <a16:creationId xmlns:a16="http://schemas.microsoft.com/office/drawing/2014/main" id="{40FDA926-D3BB-04A1-12FB-4F31F890E645}"/>
              </a:ext>
            </a:extLst>
          </p:cNvPr>
          <p:cNvSpPr>
            <a:spLocks noGrp="1"/>
          </p:cNvSpPr>
          <p:nvPr>
            <p:ph idx="1"/>
          </p:nvPr>
        </p:nvSpPr>
        <p:spPr>
          <a:xfrm>
            <a:off x="1097280" y="2019300"/>
            <a:ext cx="10058400" cy="3849794"/>
          </a:xfrm>
        </p:spPr>
        <p:txBody>
          <a:bodyPr>
            <a:normAutofit/>
          </a:bodyPr>
          <a:lstStyle/>
          <a:p>
            <a:pPr>
              <a:buFont typeface="Wingdings" panose="05000000000000000000" pitchFamily="2" charset="2"/>
              <a:buChar char="§"/>
            </a:pPr>
            <a:r>
              <a:rPr lang="es-ES" sz="2800" dirty="0"/>
              <a:t> Digitar un Hola Mundo</a:t>
            </a:r>
          </a:p>
          <a:p>
            <a:pPr>
              <a:buFont typeface="Wingdings" panose="05000000000000000000" pitchFamily="2" charset="2"/>
              <a:buChar char="§"/>
            </a:pPr>
            <a:r>
              <a:rPr lang="es-ES" sz="2800" dirty="0"/>
              <a:t>Crear un comentario al principio escribiendo su nombre</a:t>
            </a:r>
            <a:endParaRPr lang="es-EC" sz="2800" dirty="0"/>
          </a:p>
        </p:txBody>
      </p:sp>
      <p:pic>
        <p:nvPicPr>
          <p:cNvPr id="5" name="Imagen 4" descr="Un dibujo de una persona&#10;&#10;El contenido generado por IA puede ser incorrecto.">
            <a:extLst>
              <a:ext uri="{FF2B5EF4-FFF2-40B4-BE49-F238E27FC236}">
                <a16:creationId xmlns:a16="http://schemas.microsoft.com/office/drawing/2014/main" id="{38C1DFDB-5F72-80C0-9A23-13309162AF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800" y="3181774"/>
            <a:ext cx="2687320" cy="2687320"/>
          </a:xfrm>
          <a:prstGeom prst="rect">
            <a:avLst/>
          </a:prstGeom>
        </p:spPr>
      </p:pic>
    </p:spTree>
    <p:extLst>
      <p:ext uri="{BB962C8B-B14F-4D97-AF65-F5344CB8AC3E}">
        <p14:creationId xmlns:p14="http://schemas.microsoft.com/office/powerpoint/2010/main" val="308455294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474EA9-C11B-46B4-714E-D5F36E994570}"/>
              </a:ext>
            </a:extLst>
          </p:cNvPr>
          <p:cNvSpPr>
            <a:spLocks noGrp="1"/>
          </p:cNvSpPr>
          <p:nvPr>
            <p:ph type="title"/>
          </p:nvPr>
        </p:nvSpPr>
        <p:spPr/>
        <p:txBody>
          <a:bodyPr/>
          <a:lstStyle/>
          <a:p>
            <a:r>
              <a:rPr lang="es-ES" b="1" dirty="0"/>
              <a:t>¿Qué es Compilar?</a:t>
            </a:r>
            <a:endParaRPr lang="es-EC" b="1" dirty="0"/>
          </a:p>
        </p:txBody>
      </p:sp>
      <p:sp>
        <p:nvSpPr>
          <p:cNvPr id="3" name="Marcador de contenido 2">
            <a:extLst>
              <a:ext uri="{FF2B5EF4-FFF2-40B4-BE49-F238E27FC236}">
                <a16:creationId xmlns:a16="http://schemas.microsoft.com/office/drawing/2014/main" id="{D258B1F1-340E-BFF5-8FED-97562EF860FD}"/>
              </a:ext>
            </a:extLst>
          </p:cNvPr>
          <p:cNvSpPr>
            <a:spLocks noGrp="1"/>
          </p:cNvSpPr>
          <p:nvPr>
            <p:ph idx="1"/>
          </p:nvPr>
        </p:nvSpPr>
        <p:spPr>
          <a:xfrm>
            <a:off x="5676900" y="1845734"/>
            <a:ext cx="5478780" cy="4023360"/>
          </a:xfrm>
        </p:spPr>
        <p:txBody>
          <a:bodyPr>
            <a:normAutofit/>
          </a:bodyPr>
          <a:lstStyle/>
          <a:p>
            <a:pPr algn="just"/>
            <a:r>
              <a:rPr lang="es-ES" sz="3200" dirty="0"/>
              <a:t>Es el proceso de traducir un programa escrito en un lenguaje de alto nivel (como C++, Java o C) a un código de máquina binario (ceros y unos).</a:t>
            </a:r>
            <a:endParaRPr lang="es-EC" sz="3200" dirty="0"/>
          </a:p>
        </p:txBody>
      </p:sp>
      <p:pic>
        <p:nvPicPr>
          <p:cNvPr id="5" name="Imagen 4" descr="Imagen que contiene reloj&#10;&#10;El contenido generado por IA puede ser incorrecto.">
            <a:extLst>
              <a:ext uri="{FF2B5EF4-FFF2-40B4-BE49-F238E27FC236}">
                <a16:creationId xmlns:a16="http://schemas.microsoft.com/office/drawing/2014/main" id="{20B41707-D6C7-8B79-6104-07D1FE74EB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0500" y="2130214"/>
            <a:ext cx="3454400" cy="3454400"/>
          </a:xfrm>
          <a:prstGeom prst="rect">
            <a:avLst/>
          </a:prstGeom>
        </p:spPr>
      </p:pic>
    </p:spTree>
    <p:extLst>
      <p:ext uri="{BB962C8B-B14F-4D97-AF65-F5344CB8AC3E}">
        <p14:creationId xmlns:p14="http://schemas.microsoft.com/office/powerpoint/2010/main" val="2489864522"/>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65E85A-5B11-A10C-BF56-4B95BEA5BE4D}"/>
              </a:ext>
            </a:extLst>
          </p:cNvPr>
          <p:cNvSpPr>
            <a:spLocks noGrp="1"/>
          </p:cNvSpPr>
          <p:nvPr>
            <p:ph type="title"/>
          </p:nvPr>
        </p:nvSpPr>
        <p:spPr/>
        <p:txBody>
          <a:bodyPr/>
          <a:lstStyle/>
          <a:p>
            <a:r>
              <a:rPr lang="es-ES" dirty="0"/>
              <a:t>Termina el video</a:t>
            </a:r>
            <a:endParaRPr lang="es-EC" dirty="0"/>
          </a:p>
        </p:txBody>
      </p:sp>
      <p:sp>
        <p:nvSpPr>
          <p:cNvPr id="3" name="Marcador de contenido 2">
            <a:extLst>
              <a:ext uri="{FF2B5EF4-FFF2-40B4-BE49-F238E27FC236}">
                <a16:creationId xmlns:a16="http://schemas.microsoft.com/office/drawing/2014/main" id="{CEF755E7-36F7-EAC3-161D-0EB2E0F8F7A7}"/>
              </a:ext>
            </a:extLst>
          </p:cNvPr>
          <p:cNvSpPr>
            <a:spLocks noGrp="1"/>
          </p:cNvSpPr>
          <p:nvPr>
            <p:ph idx="1"/>
          </p:nvPr>
        </p:nvSpPr>
        <p:spPr>
          <a:xfrm>
            <a:off x="1694180" y="2188634"/>
            <a:ext cx="10058400" cy="4023360"/>
          </a:xfrm>
        </p:spPr>
        <p:txBody>
          <a:bodyPr/>
          <a:lstStyle/>
          <a:p>
            <a:pPr marL="0" indent="0">
              <a:buNone/>
            </a:pPr>
            <a:r>
              <a:rPr lang="es-ES" dirty="0"/>
              <a:t>GRACIAS</a:t>
            </a:r>
            <a:r>
              <a:rPr lang="es-EC" dirty="0"/>
              <a:t>!!!</a:t>
            </a:r>
            <a:endParaRPr lang="es-ES" dirty="0"/>
          </a:p>
        </p:txBody>
      </p:sp>
    </p:spTree>
    <p:extLst>
      <p:ext uri="{BB962C8B-B14F-4D97-AF65-F5344CB8AC3E}">
        <p14:creationId xmlns:p14="http://schemas.microsoft.com/office/powerpoint/2010/main" val="1110287415"/>
      </p:ext>
    </p:extLst>
  </p:cSld>
  <p:clrMapOvr>
    <a:masterClrMapping/>
  </p:clrMapOvr>
  <p:transition spd="slow">
    <p:push dir="u"/>
  </p:transition>
</p:sld>
</file>

<file path=ppt/theme/theme1.xml><?xml version="1.0" encoding="utf-8"?>
<a:theme xmlns:a="http://schemas.openxmlformats.org/drawingml/2006/main" name="Retrospección">
  <a:themeElements>
    <a:clrScheme name="Azul">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120</TotalTime>
  <Words>290</Words>
  <Application>Microsoft Office PowerPoint</Application>
  <PresentationFormat>Panorámica</PresentationFormat>
  <Paragraphs>19</Paragraphs>
  <Slides>8</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Aptos</vt:lpstr>
      <vt:lpstr>Calibri</vt:lpstr>
      <vt:lpstr>Calibri Light</vt:lpstr>
      <vt:lpstr>Wingdings</vt:lpstr>
      <vt:lpstr>Retrospección</vt:lpstr>
      <vt:lpstr>MODULO 1</vt:lpstr>
      <vt:lpstr>Propósito</vt:lpstr>
      <vt:lpstr>¿Qué es C++?</vt:lpstr>
      <vt:lpstr>Desarrollador del Lenguaje</vt:lpstr>
      <vt:lpstr>IDE por utilizar</vt:lpstr>
      <vt:lpstr>1er Programa </vt:lpstr>
      <vt:lpstr>¿Qué es Compilar?</vt:lpstr>
      <vt:lpstr>Termina el video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 MANUEL  LEON CARRERA</dc:creator>
  <cp:lastModifiedBy>JOSE MANUEL  LEON CARRERA</cp:lastModifiedBy>
  <cp:revision>5</cp:revision>
  <dcterms:created xsi:type="dcterms:W3CDTF">2026-06-28T07:21:55Z</dcterms:created>
  <dcterms:modified xsi:type="dcterms:W3CDTF">2026-07-05T07:34:48Z</dcterms:modified>
</cp:coreProperties>
</file>